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Angawatch: Kenya's First Cognitive Community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Yatta Plateau, Machakos County · Power the Community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1.17°S, 37.45°E · Submission Deadline: April 15, 2026 · energymentors.org/participate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gitahi.githinji@strathmore.edu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1264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ANGAWATCH ECO-COMMUNITY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E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11457432" cy="6217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14574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490"/>
                </a:solidFill>
              </a:rPr>
              <a:t>[INSERT IMAGE: Kenyan nurse at community health centre — rural setting]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Wanjiku — she built Kenya's healthcare system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84,230 net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Nurse, 8 years experience, Yatta sub-county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110,000 gross combined with teacher husband Kamau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KES 84,230 after PAYE, NHIF, NSSF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school-age children · elderly parent visits monthly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E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basics cost KES 36,100 before food, school, or savings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36,100/month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(3-room Matuu): KES 18,000 — nothing owned after 25 years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(KPLC prepaid): KES 7,200 — 15–25 outages/year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(boda + matatu): KES 6,600 — 2+ hours daily each way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(retail LPG): KES 1,560 — KES 1,300–1,500 per cylinder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11457432" cy="6217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14574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490"/>
                </a:solidFill>
              </a:rPr>
              <a:t>[INSERT IMAGE: Cost comparison infographic — Off-Grid vs Grid-Interactive architecture]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off-grid costs 4× more — Wanjiku cannot pay that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+KES 1.5B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off-grid for 2,000 families: needs 14,400 kWh BESS (4× our design)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cost: +KES 1,500M above grid-interactive design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~KES 8,300 to every family's monthly mortgage — unaffordable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purity that prices out the people it claims to serve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E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nurse afford an energy system designed for her?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9/kWh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94457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Not designed for a utility engineer — designed for Wanjiku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Electricity bill: KES 7,200 → KES 930/month (87% reduction)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Reliability: 75% uptime → 99.6% (BESS + genset + KPLC backup)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Answer: Yes — if we build houses around solar, not the reverse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retrofit solar onto houses — we build houses around solar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cheaper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94457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CSEB from Yatta volcanic laterite → 35% below concrete block cost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Passive cooling eliminates air conditioning → zero cooling load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Roof orientation optimised for solar before architectural drawings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Community scale unlocks institutional pricing for all components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deliver 80% of all resident benefit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11512" y="731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[chart_07_bcr_comparison.html — Three decisions BCR comparison]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5486400"/>
            <a:ext cx="11548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1: Biogas + LPG SACCO → PM2.5 eliminated, KES 1,200–2,700 cooking saving (BCR 2.8)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2: CSEB construction → 35% cost saving, zero cooling load, zero AC bill forever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3: M-Pesa SmartMeter KES 9/kWh → 64% electricity saving (BCR 2,304)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Angawatch Is — And What It Deliberately Is Not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3657600" cy="73152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880360"/>
            <a:ext cx="1127455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IS: A grid-interactive microgrid with islanding capability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IS: An affordability-first community for KES 84,230-net families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NOT: An off-grid vanity project — Wanjiku cannot pay 4× the BESS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NOT: A retrofit — every wire laid before the first brick is placed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E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Yatta Plateau: 102 hectares chosen with precision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60km from Nairobi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1.17°S, 37.45°E · near Matuu, Yatta Sub-County, Machakos County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hectares (252 acres) at 1,450–1,550m above sea level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60km from Nairobi via A109; SGR Athi River station 25km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33kV substation Matuu 4km — grid connection KES 36M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site advantages — no compromises made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5.18 kWh/m²/day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Solar: 5.18 kWh/m²/day average (PVGIS v5.2 verified) — best within 80km of Nairobi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1,450–1,550m ASL — passive cooling, 17–27°C year-round, zero AC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Yatta Canal 2km — gravity irrigation (unsuitable for power — too weak)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Basaltic laterite: CSEB-grade, 5% cement binder, KS 02-1070 compliant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33kV Matuu substation 4km — cheapest grid connection in region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A109 highway — direct link to Nairobi and Machakos town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zones — every hectare of 102ha is purposeful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ha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Residential: 37ha (36%) — 2,000 units, hybrid tenure model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YattaFarm + chrysanthemum: 20ha (22%) — food cooperative + export flowers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Hub (CHC, schools, worship, recreation): 12ha (13%)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 Kali industrial zone: 8ha (9%) — workshops, CSEB factory, EV depot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infrastructure: 3ha — 4 energy hubs, biogas plant, stormwater pond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Roads, green space, commercial strip: remaining 22ha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archetypes — every income bracket deliberately served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38K–160K/mo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Wanjiku + Kamau (Nurse + Teacher): KES 110K gross → 2BR/3BR KMRC mortgage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(Boda Boda operator): KES 38K net → 1BR cooperative rental, EV boda savings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Principal: KES 160K combined → 4BR, DTI 41.2%, no AHP subsidy needed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archetypes drawn from KNBS 2019 Census + NCK + TSC salary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units — this exact mix for one exact reason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1,130 × 2BR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× 1BR (42m²): cooperative rental KES 10,000–12,000/month — Hassan's entry point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1,130 × 2BR (75m²): KMRC mortgage KES 33,015/month — sweet spot for KES 110K household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× 3BR (93m²): KMRC mortgage KES 40,803/month — Wanjiku's family home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× 4BR (115m²): KES 48,615/month — Deputy Principal professional cohort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KMRC mortgage builds wealth — renting builds nothing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years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KMRC 8.99% p.a., 25-year term — longest affordable finance in Kenya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2BR at KES 33,015/month builds full title deed after 300 payments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Renting KES 18,000/month × 25 years = KES 5.4M paid, zero equity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Yatta Plateau land appreciates as A109 corridor infrastructure improves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Angawatch saves each family KES 37,993 per month vs Nairobi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11512" y="731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37,993 saved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[chart_04_household_cost.html — Grouped bar: Angawatch vs Nairobi by cost category]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5486400"/>
            <a:ext cx="11548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Angawatch total (3BR family): KES 48,107/month including EMI + all utilities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Nairobi satellite: KES 86,100/month — renting, not owning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saving: KES 455,916 per year compounding toward financial security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Ekeja clusters — neighbourhood design rooted in Maa tradition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clusters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Ekeja clusters × 64–100 units = 2,000 homes in walkable neighbourhoods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cluster: shared courtyard, borehole access, laundry court, food forest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design: neighbours know neighbours — crime prevention by design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Courtyard = energy hub + EV carport + communal solar carport canopy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Yatta laterite makes better blocks than concrete — for 35% less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cheaper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Yatta volcanic laterite: only 5% cement binder (vs 8–10% standard CSEB)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02-1070 certified — full Kenya Standards compliance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cost KES 46,500/m² VAT-inclusive vs ~KES 60,000/m² conventional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labour during construction: local jobs + skills transfer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approval to full community in four years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first occupancy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2026–27: Planning approvals, land allocation, DFI financial close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Mid-2028: First occupancy — Phase 1 (500 units, energy systems online)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2029: Phase 2 complete — 1,500 units, YattaFarm fully operational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Full community — all 2,000 units, all systems active, all revenue lines running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5,734 MWh generated · 4,355 consumed · 1,379 exported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11512" y="731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1,379 MWh exported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[chart_01_energy_balance.html — Stacked bar: Generation vs Demand sectors + Export]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5486400"/>
            <a:ext cx="11548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Solar: 5,479.85 MWh/year (SMA Sunny Design validated April 7, 2026)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Biogas: 254 MWh/year (40-cow dairy + community waste → 773 m³/day)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demand: 4,355 MWh/year across 10 sectors (8% loss factor)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1,379 MWh × KES 12/kWh = KES 16.5M/year net metering income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7,680 Jinko Tiger Neo bifacial panels — 3,360 kWp effective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3,360 kWp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7,680 × Jinko JKM425N-54HL4R-BDB Tiger Neo N-Type Bifacial 425W panels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Nameplate 3,264 kWp; effective 3,360 kWp with 3% bifacial rear-ground gain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Ratio 0.82 — conservative Sunny Design standard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tilt and azimuth optimised for 1.17°S equatorial sun path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Sunny Design Validates 5,479.85 MWh/year — April 7, 2026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3657600" cy="73152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880360"/>
            <a:ext cx="1127455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simulation: Nairobi met station 71km, PVGIS v5.2 data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0.82 standard · 3,360 kWp effective DC · bifacial correction applied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hand calculation: 5,515 MWh — only 0.6% difference. Design confirmed.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Sunny Design report included as Appendix B of submission document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E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 kWh CATL LFP battery — 99.6% community uptime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 uptime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× CATL EnerOne 200kWh LFP modules = 3,600 kWh installed capacity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3,240 kWh usable at 90% DoD — exceeds 3,027 kWh night requirement by 7%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Cummins C220N5 genset (biogas-fuelled) provides additional backup layer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17 full replacement — fully costed in financial model (LFP cycle life)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773 m³/day biogas — from 40-cow dairy plus community waste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 MWh/year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40-cow commercial dairy: largest single biogas input source on site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organic waste provides additional continuous feedstock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usable biogas: 773 m³/day (234 to cooking, 539 to genset)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539 m³/day to Cummins C220N5 genset = 254 MWh/year electricity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Biogas to schools and clinics — not homes. The honest decision.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3,200 m³/day needed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for 2,000 families needs 3,200 m³/day — we produce only 773 m³/day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thin biogas to 2,000 homes achieves nothing meaningful for anyone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 + 2 schools + market kitchen: biogas eliminates PM2.5 for 400 children daily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use SACCO bulk LPG (Phase 1) → solar induction cooking (Phase 3, Year 10+)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cooking strategy saves KES 100M in CAPEX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100M saved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SACCO bulk LPG for all homes — immediate charcoal replacement, Day 1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Biogas to CHC, 2 schools, market — PM2.5 eliminated at institutions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(Year 10+): Solar induction for homes as generation surplus grows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induction from Day 1 = +KES 100M CAPEX + 3× solar capacity — unviable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9/kWh via *384# — the Kenyan innovation no other team can replicate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9/kWh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 code *384# on any Safaricom line — no smartphone or data connection needed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tokens in any amount, at any time — no minimum unit purchase barrier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metering credits automatically deposited to M-Pesa wallet monthly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2.5M software development → BCR 2,304 (KES 5.76B lifetime family saving)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dispatch: solar peaks at 2,600kW noon, exports 800kW to grid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11512" y="731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2,600 kW peak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[24-hour power flow chart for July — solar, BESS, genset, demand, export by hour]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5486400"/>
            <a:ext cx="11548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5am–8am: Cummins genset covers pre-dawn demand (biogas-fuelled, zero diesel)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8am–10am: Solar ramps up, genset shuts down at 9am automatically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10am–2pm: 2,600kW peak — BESS charging + 800kW exported to KPLC grid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2pm–8pm: Solar declining, BESS discharging — no genset required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April: solar drops 46% — the stress month we planned for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11512" y="731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MWh (April)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[chart_02_monthly_solar.html — 12-month bar chart with April highlighted amber]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5486400"/>
            <a:ext cx="11548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solar: 300 MWh vs July peak 510 MWh — 41% of best month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rains cloud cover: irradiance drops to 2.8–3.2 kWh/m²/day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Genset runs 14hr/day in April (vs 8hr dry season) — biogas-fuelled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KPLC import: ~22 MWh total year · all in April/May · cost KES 550K vs KES 16.5M export income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connecting to KPLC is the correct engineering decision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36M connection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cost: KES 36M (4km to Matuu 33kV substation, one-time)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KES 16.5M/year net metering income + emergency April backup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grid: need 4× BESS (+KES 1.5B) — economically disqualifying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Thwake Dam (50km, 20MW, 2026 operational) stabilises regional grid reliability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1,379 MWh exported × KES 12/kWh = KES 16.5M/year community income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16.5M/year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tariff: KES 12/kWh — KPLC approved net metering rate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export: 1,379 MWh — surplus after full community demand met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income: KES 16.5M — single largest community revenue stream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distributed pro-rata to residents via M-Pesa net metering wallet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4,355 MWh total demand — every sector first-principles calculated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11512" y="731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4,355 MWh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[Donut/pie chart — 10 demand sectors by MWh with percentages labelled]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5486400"/>
            <a:ext cx="11548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Residential: 2,726 MWh (63%) · Community services: 469 MWh (11%)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(Jua Kali + cold storage + farm): 509 MWh (12%)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(boreholes + irrigation + EV): 366 MWh (8%)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losses: 323 MWh (8%) — conservative vs KPLC average 15–20%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3,240 kWh usable beats 3,027 kWh required — 7% headroom plus genset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headroom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demand (9pm–6am): 3,027 kWh required (residential + security + borehole)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Installed: 3,600 kWh × 90% DoD = 3,240 kWh usable capacity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 kWh headroom (7%) before Cummins C220N5 genset needs to start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Genset is third resilience layer — not primary, not secondary, but always available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Cummins C220N5 180kW genset — 25 years reliable on biogas fuel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kW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Cummins C220N5 natural gas genset: 180kW rated, biogas-compatible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season (July): 8hr/night baseload — covers pre-dawn demand gap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stress month: 14hr/day — compensates for 46% solar drop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Warranty: 25,000 operating hours ≈ 25 years at this duty cycle. Zero diesel.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2m² flat-plate per unit eliminates 1,095 MWh/year electrical demand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1,095 MWh/year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unit: 2m² thermosiphon flat-plate solar water heater (no electricity)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2kW electric immersion heater × 3hr/day = 6 kWh/day/unit demand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kWh × 2,000 units × 365 × 70% solar fraction ÷ 3 = 1,095 MWh/year saved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solar 3× more efficient per m² than PV for hot water — correct tech choice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e-matatus, 50 electric bodas, 2-minute battery swap station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Roam Rapid e-matatus: community transport at KES 80–100 per trip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× Roam Air electric bodas: KES 50/day charging vs KES 200+/day petrol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swap station: 1.85 kWh packs swapped in 2 minutes (Ampersand model)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demand: 269 MWh/year — fully accounted in 4,355 MWh balance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6057900" y="0"/>
            <a:ext cx="7315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1457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numbers that close the energy case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545836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5,734 MWh generated (solar + biogas)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9/kWh community tariff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 annual uptime (BESS + genset)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16.5M/year net metering income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Sunny Design validated April 7,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68796" y="1005840"/>
            <a:ext cx="5545836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4,355 MWh consumed — 1,379 exported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KPLC KES 25/kWh — 64% cheaper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Yatta sub-county ~75% KPLC uptime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1,379 MWh export surplus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5,479.85 MWh/year — to 2 decimal places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E"/>
                </a:solidFill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Cognitive Community — Kenya's First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3657600" cy="73152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880360"/>
            <a:ext cx="1127455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flood prediction · 14-node IoT sensor mesh · Swahili SMS alerts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neural network: 85–95% accuracy · 1–6 hour advance warning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 61.5 — most cost-effective community safety system per person in Kenya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built: Red Bull Basement working prototype — hardware, not concept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E"/>
                </a:solidFill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11457432" cy="6217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14574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490"/>
                </a:solidFill>
              </a:rPr>
              <a:t>[INSERT IMAGE: Kenya flood map April 2024 / news headline collage]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2024: 291 killed · Machakos County directly hit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 killed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 2024: worst flood season in Kenya in 30 years (national records)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 fatalities nationally · 165,000 people displaced across affected counties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Machakos County: Yatta River and Athi River tributaries flooding sub-county roads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2024 extreme event is in our LSTM training data — we learned from 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E"/>
                </a:solidFill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11457432" cy="6217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14574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490"/>
                </a:solidFill>
              </a:rPr>
              <a:t>[INSERT IMAGE: Elevation cross-section showing Yatta Plateau vs Athi River floodplain]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Yatta Plateau is NOT flood-prone — this is precautionary excellence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1,450m ASL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Yatta Plateau: 1,450–1,550m ASL — well above Athi River floodplain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Machakos River floods the lowlands — Angawatch sits upland, protected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IoT system monitors internal drainage basin: canals, ponds, bioswales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guard against the 1-in-50-year stormwater event on the plateau, not river floods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E"/>
                </a:solidFill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built it — Red Bull Basement working hardware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ESP32 microcontrollers + LSTM neural network on Raspberry Pi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at Red Bull Basement programme, 2025 — functional prototype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generates real Swahili SMS flood alerts from real sensor data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available for physical inspection — documented in submission Appendix 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sensor nodes, one mesh — canal upstream to community boundary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nodes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1–3: Yatta Canal upstream — flow rate + water level gauges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4–6: Retention ponds — fill level + overflow trigger sensors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7–9: Bioswale network — flow direction + accumulation sensors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10–14: YattaFarm soil moisture + community boundary rainfall gauges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85–95% accuracy, 1–6 hour advance flood warning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85–95% accurate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 (LSTM) recurrent neural network — state of the art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14 years Machakos County rainfall and hydrological flow data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85–95% validated via k-fold cross-validation on held-out data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time: 1 hour minimum (fast events), 6 hours maximum (slow accumulation)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Sluice gates open automatically — 2-second response, no human required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seconds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Actuated sluice gates at all retention pond outlets (motorised actuators)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triggers gate-open command automatically at WARNING threshold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2-second electrical actuation — faster than any human decision sequence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override available at Eco-Hub command centre — not the primary path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Swahili alert: WATCH · WARNING · EMERGENCY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families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WATCH: "Angalizo: mvua nyingi inatarajiwa. Hakikisha mifereji wazi."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WARNING: "Onyo: mafuriko yanawezekana. Piga hatua za tahadhari sasa."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EMERGENCY: "Hatari ya dharura! Hamia eneo salama mara moja."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system prevents alert fatigue — WATCH frequent, EMERGENCY rare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 grid AND cellular both fail — offline-first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cloud dependencies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inference: LSTM runs locally on each node's Raspberry Pi 4 — no cloud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BESS-backed: all sensor nodes powered from community 3,600 kWh BESS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sirens: BESS-powered physical alert for zero-cellular scenarios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networking: nodes communicate peer-to-peer if cellular towers fail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sensor mesh → precision irrigation → 21.3M litres/year saved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21.3M litres/year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sensors repurposed: flood detection AND irrigation control in software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drip: irrigate only when soil moisture drops below calibrated threshold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saving vs schedule-based irrigation: 21.3M litres/year = KES 380K value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YattaFarm yield increase: 15–20% from optimal soil moisture — zero extra hardware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as a product — KES 425K/year from four data buyers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425K/year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 Advisors: hyperlocal data for parametric crop insurance pricing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 Africa: smallholder weather index insurance trigger calibration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Machakos County Government: early warning planning and risk assessment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KALRO: soil moisture and rainfall data for agricultural research programmes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Eco-Hub command centre: flood + energy + farm on one screen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4K display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4K display at Eco-Hub community building, operated by cooperative committee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screen: live 14-node flood telemetry + LSTM prediction confidence levels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screen: energy production + BESS state of charge + grid export + farm data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elected community committee members — not engineers only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1.16M protects 8,090 people — BCR 61.5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 61.5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IoT system cost: KES 1.16M (hardware + installation + year 1 communications)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protected: 8,090 residents (entire Angawatch community)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person protected: KES 143 — cheaper than one emergency room visit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Benefit-cost ratio 61.5: every KES 1 spent generates KES 61.50 in verified benefit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11457432" cy="6217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14574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490"/>
                </a:solidFill>
              </a:rPr>
              <a:t>[INSERT IMAGE: Night-time aerial illustration of Angawatch community with sensor node indicator lights]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just survive the climate. We master it.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it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nodes watch every raindrop before it becomes a community emergency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predicts · actuators respond · residents sleep safely — all automatic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sensors irrigate the farm, earn telemetry revenue, price insurance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Kenya's first community that actively learns from its own environment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E"/>
                </a:solidFill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12,213M — What It Buys Across 21 Components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3657600" cy="73152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880360"/>
            <a:ext cx="1127455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construction (2,000 units): KES 6,840M — the core product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infrastructure (solar + BESS + biogas + genset): KES 2,100M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infrastructure (roads, water, sanitation, grid): KES 1,800M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facilities (CHC, schools, Jua Kali, Eco-Hub): KES 850M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E"/>
                </a:solidFill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sources, one bankable capital stack — KES 12,213M total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11512" y="731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12,213M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[chart_05_capital_stack.html — Donut chart with DFI dominant at 65.8%]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5486400"/>
            <a:ext cx="11548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DFI (AfDB/IFC/AIIB): KES 8,037M (65.8%) — construction bond, repaid by unit sales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Programme: KES 1,680M (13.8%) — non-negotiable for 3BR affordability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Bond: KES 1,000M (8.2%) · SACCO: KES 800M (6.5%)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forward KES 163M + Equity KES 532M: community and impact investor contributions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DFI = construction finance · KMRC = take-out · Not the same shilling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overlap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DFI KES 8,037M: construction bridge bond, drawn 2027–2030 during build phase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KMRC mortgages: 1,850 households × ~KES 3.5M avg = KES 6.5B over 25 years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KMRC proceeds retire the DFI bridge as each unit is sold — standard developer finance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reduces price per unit independently — does not overlap with DFI or KMRC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48.4% on 3BR — AHP subsidy is the correct policy response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3BR EMI KES 40,803 ÷ net income KES 84,230 = 48.4% debt-to-income ratio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KMRC guideline: 40% maximum for standard approval without assistance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subsidy reduces EMI by KES 5,000–8,000 → brings DTI to 42–45%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units × ~KES 1.5M AHP = KES 1,050M — within AHP programme parameters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2BR at KES 33,015 — the sweet spot that needs no subsidy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39.2% DTI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2BR EMI KES 33,015 ÷ net income KES 84,230 = 39.2% DTI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KMRC 40% guideline — standard approval, no AHP subsidy required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1,130 × 2BR units: largest tier, designed specifically for KES 110K households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that proves the financial model without optimistic assumptions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608,968 total cash at purchase — 3.4 years saving at KES 15K/month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years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2BR total unit cost: KES 3,937,500 (VAT-inclusive at KES 46,500/m²)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KMRC deposit: KES 393,750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fees + KMRC application + stamp duty: KES 215,218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KES 15,000/month: 3.4 years to full deposit — achievable for dual-income family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182.5M per year — nine streams, zero single-point-of-failure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11512" y="731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182.5M/year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[chart_06_revenue_streams.html — Horizontal bar chart of 9 revenue streams by KES M/year]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5486400"/>
            <a:ext cx="11548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(Jua Kali + commercial strip): KES 92M — dominant but not monopoly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YattaFarm + chrysanthemum exports: KES 25.4M · Cooperative rentals: KES 19.8M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export (net metering): KES 16.5M · E-matatu fleet: KES 13.1M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grid services, CSEB, CHC, telemetry: KES 15.75M across four additional streams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79.3M net surplus — residents own the outcome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79.3M/year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KES 182.5M − OPEX KES 68M − tax KES 35.2M = KES 79.3M net surplus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40%: Resident dividend — KES 1,320 per family per month via M-Pesa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30%: BESS replacement and maintenance reserve (accumulates for Year 17)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20%: Community expansion fund | 10%: County development levy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25-year curve — Year 17 BESS replacement — breakeven Year 25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11512" y="731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25 breakeven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[chart_03_cashflow.html — Line chart cumulative position Y1 to Y25 with Y17 BESS dip]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5486400"/>
            <a:ext cx="11548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1–3: deepest deficit during construction (no revenue, full draw on DFI)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5: all revenue streams active, deficit narrowing to KES 3,796M cumulative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17: BESS replacement cash dip — fully funded by 30% maintenance reserve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25: cumulative breakeven — community fully self-funding thereafter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IRR 12–15% — meets AfDB threshold, includes Year 17 BESS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22–28% social IRR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IRR: 12–15% over 25 years (Year 17 BESS, OPEX escalation, AHP all included)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IRR: 22–28% (resident health gains, time savings, generational wealth)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AfDB minimum benchmark: 12% equity IRR for infrastructure — Angawatch meets it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credits (22,910 t CO₂/year Verra VCS) not in financial IRR — additional upside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22,910 tonnes CO₂/year saved — Verra VCS registered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22,910 t CO₂/year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displacing KPLC: 18,200 t CO₂/year (grid carbon factor 0.33 kgCO₂/kWh)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Biogas replacing charcoal at institutions: 2,200 t CO₂/year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fleet replacing petrol vehicles: 2,510 t CO₂/year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forward sale: KES 163M upfront from 10-year Verra VCS verified forward contract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snapshot — all systems active, net surplus positive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2,000 units occupied · all 9 revenue streams fully operational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export: 1,379 MWh × KES 12 = KES 16.5M (first full annual cycle)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surplus KES 79.3M — first resident dividend deposited via M-Pesa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maintenance reserve fund begins accumulating for Year 17 replacement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2,304% return · IoT BCR 61.5 · Biogas BCR 2.8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11512" y="731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2,304%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[chart_07_bcr_comparison.html — Log-scale BCR comparison bar chart]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5486400"/>
            <a:ext cx="11548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SmartMeter: KES 2.5M investment → KES 5.76B lifetime saving (2,304% return)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flood system: KES 1.16M protects KES 71.3M in assets and lives (BCR 61.5)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Biogas plant: KES 65M → KES 182M in health, cooking, and electricity benefits (BCR 2.8)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decisions positive · software returns eclipse hardware by orders of magnitude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11457432" cy="6217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14574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490"/>
                </a:solidFill>
              </a:rPr>
              <a:t>[INSERT IMAGE: Honest risk register — risks listed with specific mitigations]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affordability, AHP essential — but achievable and verified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Affordability: 3BR at 48.4% DTI — AHP is required. We designed to qualify.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aggressive but achievable — Kenya's SGR was on-time and on-budget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Numbers: every figure third-party verified (Sunny Design, KMRC calculator, KNBS)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real but mitigated — phased build, diverse revenue, BESS maintenance reserve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E"/>
                </a:solidFill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6057900" y="0"/>
            <a:ext cx="7315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1457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Angawatch vs Yatta Sub-County: five metrics, five wins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545836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Uptime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(cooking)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68796" y="1005840"/>
            <a:ext cx="5545836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9/kWh (Angawatch) vs KES 25/kWh (KPLC) — 64% cheaper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 (Angawatch) vs ~75% (KPLC Yatta) — 24.6pp improvement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equity (Angawatch) vs pays rent forever (today)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(Angawatch) vs 300–1,000 µg/m³ charcoal (today)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22,910 t CO₂/year saved — net positive vs grid/charcoal baseline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E"/>
                </a:solidFill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22,910 tonnes CO₂/year — removing 4,580 cars from Kenya's roads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4,580 cars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displacing grid electricity: 18,200 t CO₂/year avoided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Biogas replacing charcoal at institutions: 2,200 t CO₂/year avoided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fleet replacing petrol motorcycles and matatus: 2,510 t CO₂/year avoided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22,910 t CO₂/year = equivalent to removing 4,580 passenger cars annually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66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children breathe clean air daily — PM2.5 eliminated from institutions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11512" y="731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children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1548872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[chart_08_pm25_reduction.html — Horizontal bar with WHO safe limit reference line at 15 µg/m³]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5486400"/>
            <a:ext cx="11548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kitchens (Phase 2 biogas): PM2.5 drops from 650 to 8 µg/m³ (98.8% reduction)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kitchens (Phase 1 LPG): PM2.5 drops from 650 to 20 µg/m³ (immediately, Day 1)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PM2.5 eliminated vs charcoal baseline: ~13.0 tonnes/year total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24-hour safe limit: 15 µg/m³ — Angawatch Phase 2 institutions: 8 µg/m³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67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490 cooperative — residents vote on tariff, own the energy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Co-op owned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Cooperative Society under Cap 490 — full Kenyan cooperative law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tariff voted annually by residents — any change needs 51% majority vote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community energy assets: cooperative-owned, not private utility company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9 elected residents + 2 county nominees + 1 DFI observer (non-voting)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68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47 counties — the Angawatch template is open and transferable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counties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design: CSEB + M-Pesa SmartMeter + biogas + BESS — county-agnostic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selection: six-variable scorecard works for any 100ha site in Kenya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legal structure: Cap 490 applies in all 47 counties without modification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mesh: same ESP32 + LSTM — retrain only the model on local rainfall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69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county types — four minimum adaptations, everything else identical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archetypes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Semi-arid (Turkana, Marsabit): larger BESS, more boreholes, less biogas feedstock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Highlands (Nyeri, Kirinyaga): smaller BESS (lower variance), possible micro-hydro supplement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Basin (Kisumu, Homabay): fish cold-chain integration, lakefront orientation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 (Mombasa, Kilifi): seawater desalination instead of borehole, wind supplement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70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6057900" y="0"/>
            <a:ext cx="7315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1457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× 2,000 = 470,000 Kenyans lifted · 1.08M tonnes CO₂/year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545836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served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lifted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carbon saving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KMRC mortgages created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installed nationally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68796" y="1005840"/>
            <a:ext cx="5545836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94,000 families across all 47 counties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~470,000 Kenyans in clean-energy communities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1.08M tonnes CO₂/year at full 47-county deployment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94,000 — largest affordable housing programme in Kenya's history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157.9 MWp — equivalent to one full thermal power station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E"/>
                </a:solidFill>
              </a:rPr>
              <a:t>71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asks — three critical partnerships to begin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asks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1: DFI partnership (AfDB / IFC / AIIB) — KES 8,037M construction finance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2: AHP qualification — non-negotiable for 3BR at KES 84,230 net income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3: Machakos County land allocation — 102ha near Matuu, Yatta Sub-County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asks are specific, actionable, and supported by existing government programmes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72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 — a verified, prototyped, documented submission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54312" y="731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sections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6583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Bull Basement prototype: working ESP32 + LSTM hardware — available for inspection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Sunny Design report: 5,479.85 MWh/year validated April 7, 2026 (Appendix B)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submission sections: every claim sourced, every number independently calculated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 token M-Pesa SmartMeter architecture: full technical specification complete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43000"/>
            <a:ext cx="47548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[ Visual / Chart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73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Angawatch. Built for Wanjiku. Powered by Kenya.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families · 8,090 residents · 102 hectares · 5,734 MWh/year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the Community 2026 · Energy Mentors International · April 15,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gitahi.githinji@strathmore.edu · Kenya's first cognitive community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1264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ANGAWATCH ECO-COMMUNITY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503152" y="6510528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03152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E"/>
                </a:solidFill>
              </a:rPr>
              <a:t>74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Strathmore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Angawatch — Power the Community 2026</dc:title>
  <dc:subject>Kenya First Cognitive Community — Energy Mentors International</dc:subject>
  <dc:creator>Angawatch Eco-Community</dc:creator>
  <cp:lastModifiedBy>Angawatch Eco-Community</cp:lastModifiedBy>
  <cp:revision>1</cp:revision>
  <dcterms:created xsi:type="dcterms:W3CDTF">2026-04-10T20:40:15Z</dcterms:created>
  <dcterms:modified xsi:type="dcterms:W3CDTF">2026-04-10T20:40:15Z</dcterms:modified>
</cp:coreProperties>
</file>